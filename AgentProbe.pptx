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67" r:id="rId5"/>
    <p:sldId id="258" r:id="rId6"/>
    <p:sldId id="259" r:id="rId7"/>
    <p:sldId id="260" r:id="rId8"/>
    <p:sldId id="261" r:id="rId9"/>
    <p:sldId id="262" r:id="rId10"/>
    <p:sldId id="268" r:id="rId11"/>
    <p:sldId id="263" r:id="rId12"/>
    <p:sldId id="265" r:id="rId13"/>
  </p:sldIdLst>
  <p:sldSz cx="9144000" cy="5143500" type="screen16x9"/>
  <p:notesSz cx="5143500" cy="9144000"/>
  <p:embeddedFontLst>
    <p:embeddedFont>
      <p:font typeface="Montserrat Bold" panose="00000800000000000000" pitchFamily="2" charset="0"/>
      <p:regular r:id="rId15"/>
      <p:bold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363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5B18-B21D-43C9-7881-E079AB57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D8230-0B39-C279-E145-CAC96C7DE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79898-453D-1DAD-7EA3-5186D8D48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ED15F-4E3A-6A08-C8A0-BBF8B22AB0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88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6FB20-2419-9577-2284-C5D92F96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56F3C-1839-92AB-B5C1-E8CAAFA9D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95E52-180C-FC1D-FA1A-3B0C4B0F2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2D2EB-3443-E6F3-3A2E-257A61D4A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51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project-top-10-for-large-language-model-application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arxiv.org/pdf/2306.05499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datasets/hackaprompt/hackaprompt-dataset" TargetMode="External"/><Relationship Id="rId3" Type="http://schemas.openxmlformats.org/officeDocument/2006/relationships/hyperlink" Target="https://huggingface.co/datasets/JailbreakBench/JBB-Behaviors" TargetMode="External"/><Relationship Id="rId7" Type="http://schemas.openxmlformats.org/officeDocument/2006/relationships/hyperlink" Target="https://github.com/FonduAI/awesome-prompt-injecti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walledai/AdvBench" TargetMode="External"/><Relationship Id="rId5" Type="http://schemas.openxmlformats.org/officeDocument/2006/relationships/hyperlink" Target="https://github.com/llm-attacks/llm-attacks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github.com/JailbreakBench/jailbreakbench" TargetMode="External"/><Relationship Id="rId9" Type="http://schemas.openxmlformats.org/officeDocument/2006/relationships/hyperlink" Target="https://huggingface.co/spaces/hackaprompt/playgroun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35970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169417"/>
            <a:ext cx="8064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IN" sz="2800" b="1" dirty="0" err="1"/>
              <a:t>AgentProbe</a:t>
            </a:r>
            <a:r>
              <a:rPr lang="en-IN" sz="2800" b="1" dirty="0"/>
              <a:t>: Multi-Agent Framework for Automated Prompt Injection Testing</a:t>
            </a:r>
            <a:endParaRPr lang="en-US" sz="2750" b="1" dirty="0"/>
          </a:p>
        </p:txBody>
      </p:sp>
      <p:sp>
        <p:nvSpPr>
          <p:cNvPr id="3" name="Text 1"/>
          <p:cNvSpPr/>
          <p:nvPr/>
        </p:nvSpPr>
        <p:spPr>
          <a:xfrm>
            <a:off x="539874" y="2354535"/>
            <a:ext cx="8064252" cy="204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Team Number:</a:t>
            </a: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7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Members:</a:t>
            </a: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Vishaka Ganesan - 2023115001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Varshhaa Pari - 2023115007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Naveen O.T - 2023115105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Ahilash R.S - 2023115132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Project Guide:</a:t>
            </a: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Dr. K.Vidya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ED0B5-57BE-1B11-46D5-FBD3CB5F3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03DF07-39BD-2322-84FD-778DD347F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8F539DC-BC3D-D51E-FB71-7E126E22DA0A}"/>
              </a:ext>
            </a:extLst>
          </p:cNvPr>
          <p:cNvSpPr/>
          <p:nvPr/>
        </p:nvSpPr>
        <p:spPr>
          <a:xfrm>
            <a:off x="485010" y="700522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Terminology</a:t>
            </a:r>
            <a:endParaRPr lang="en-US" sz="2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8455FA8-D1C6-1CA4-D3B9-E10B60C038D2}"/>
              </a:ext>
            </a:extLst>
          </p:cNvPr>
          <p:cNvSpPr/>
          <p:nvPr/>
        </p:nvSpPr>
        <p:spPr>
          <a:xfrm>
            <a:off x="485010" y="1447342"/>
            <a:ext cx="8064252" cy="3490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b="1" dirty="0"/>
              <a:t>Prompt Injection: </a:t>
            </a:r>
            <a:r>
              <a:rPr lang="en-IN" dirty="0"/>
              <a:t>An attack where specially crafted input tricks an AI model into overriding or bypassing its original instructions/safety policy.</a:t>
            </a:r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Jailbreaking:</a:t>
            </a:r>
            <a:r>
              <a:rPr lang="en-IN" dirty="0"/>
              <a:t> Getting a model to produce behaviour its provider intended to prevent.</a:t>
            </a:r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b="1" dirty="0"/>
              <a:t>Direct Injection:</a:t>
            </a:r>
            <a:r>
              <a:rPr lang="en-IN" dirty="0"/>
              <a:t> The attacker directly enters malicious instructions into the AI's input to manipulate its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b="1" dirty="0"/>
              <a:t>Indirect Injection:</a:t>
            </a:r>
            <a:r>
              <a:rPr lang="en-IN" dirty="0"/>
              <a:t> Malicious instructions are embedded in external content that the AI processes, such as images, documents, webpages etc.</a:t>
            </a:r>
          </a:p>
          <a:p>
            <a:pPr>
              <a:lnSpc>
                <a:spcPct val="125000"/>
              </a:lnSpc>
              <a:buSzPct val="10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651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51524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 To The Problem Domain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075729"/>
            <a:ext cx="8064252" cy="3278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43840" indent="-243840">
              <a:lnSpc>
                <a:spcPct val="125000"/>
              </a:lnSpc>
              <a:buSzPct val="100000"/>
              <a:buChar char="•"/>
            </a:pPr>
            <a:r>
              <a:rPr lang="en-IN" dirty="0"/>
              <a:t>AI chatbots are used across multiple domains such as customer support, coding assistants, banking, healthcare, etc. These chatbots </a:t>
            </a:r>
            <a:r>
              <a:rPr lang="en-IN"/>
              <a:t>often use </a:t>
            </a:r>
            <a:r>
              <a:rPr lang="en-IN" dirty="0"/>
              <a:t>tool calls, has access to external data in addition to just plain text inputs.</a:t>
            </a:r>
          </a:p>
          <a:p>
            <a:pPr marL="243840" indent="-243840">
              <a:lnSpc>
                <a:spcPct val="125000"/>
              </a:lnSpc>
              <a:buSzPct val="100000"/>
              <a:buChar char="•"/>
            </a:pPr>
            <a:r>
              <a:rPr lang="en-IN" dirty="0"/>
              <a:t>OWASP ranks Prompt Injection as the </a:t>
            </a:r>
            <a:r>
              <a:rPr lang="en-IN" b="1" dirty="0"/>
              <a:t>#1 security risk </a:t>
            </a:r>
            <a:r>
              <a:rPr lang="en-IN" dirty="0"/>
              <a:t>in the OWASP Top 10 for LLM Applications [</a:t>
            </a:r>
            <a:r>
              <a:rPr lang="en-IN" dirty="0">
                <a:hlinkClick r:id="rId3"/>
              </a:rPr>
              <a:t>Source</a:t>
            </a:r>
            <a:r>
              <a:rPr lang="en-IN" dirty="0"/>
              <a:t>].</a:t>
            </a:r>
          </a:p>
          <a:p>
            <a:pPr marL="243840" indent="-243840">
              <a:lnSpc>
                <a:spcPct val="125000"/>
              </a:lnSpc>
              <a:buSzPct val="100000"/>
              <a:buChar char="•"/>
            </a:pPr>
            <a:r>
              <a:rPr lang="en-IN" dirty="0"/>
              <a:t>A study of </a:t>
            </a:r>
            <a:r>
              <a:rPr lang="en-IN" b="1" dirty="0"/>
              <a:t>36 production LLM-integrated applications found 86% were vulnerable</a:t>
            </a:r>
            <a:r>
              <a:rPr lang="en-IN" dirty="0"/>
              <a:t> to prompt injection [</a:t>
            </a:r>
            <a:r>
              <a:rPr lang="en-IN" dirty="0">
                <a:hlinkClick r:id="rId4"/>
              </a:rPr>
              <a:t>Source</a:t>
            </a:r>
            <a:r>
              <a:rPr lang="en-IN" dirty="0"/>
              <a:t>]</a:t>
            </a:r>
          </a:p>
          <a:p>
            <a:pPr marL="243840" indent="-243840">
              <a:lnSpc>
                <a:spcPct val="125000"/>
              </a:lnSpc>
              <a:buSzPct val="100000"/>
              <a:buChar char="•"/>
            </a:pPr>
            <a:r>
              <a:rPr lang="en-IN" b="1" dirty="0"/>
              <a:t>The Gap:</a:t>
            </a:r>
            <a:r>
              <a:rPr lang="en-IN" dirty="0"/>
              <a:t> Despite this growing risk, most organizations still rely on manual, ad hoc testing rather than a systematic, automated process to catch prompt injection vulnerabilities before production rollout.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54E67-F63D-483A-C508-13EB5E007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1E1A-3BC6-0A65-2FDB-A23281A6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0AB650-6B6B-E37D-EE37-223A41B5501C}"/>
              </a:ext>
            </a:extLst>
          </p:cNvPr>
          <p:cNvSpPr/>
          <p:nvPr/>
        </p:nvSpPr>
        <p:spPr>
          <a:xfrm>
            <a:off x="539874" y="451524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B54DEE-0B39-E87D-357F-16E64AC09953}"/>
              </a:ext>
            </a:extLst>
          </p:cNvPr>
          <p:cNvSpPr/>
          <p:nvPr/>
        </p:nvSpPr>
        <p:spPr>
          <a:xfrm>
            <a:off x="539874" y="1082762"/>
            <a:ext cx="8064252" cy="3749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Existing tools mainly test chatbots through </a:t>
            </a:r>
            <a:r>
              <a:rPr lang="en-IN" b="1" dirty="0"/>
              <a:t>APIs</a:t>
            </a:r>
            <a:r>
              <a:rPr lang="en-IN" dirty="0"/>
              <a:t>, leaving </a:t>
            </a:r>
            <a:r>
              <a:rPr lang="en-IN" b="1" dirty="0"/>
              <a:t>browser-based UI interactions</a:t>
            </a:r>
            <a:r>
              <a:rPr lang="en-IN" dirty="0"/>
              <a:t> largely untested.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Limited attack capability </a:t>
            </a:r>
            <a:r>
              <a:rPr lang="en-IN" dirty="0"/>
              <a:t>— Many automated methods rely on fixed attack templates and do not sufficiently adapt attacks to the target chatbot, its context, or its responses.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No actionable output/report</a:t>
            </a:r>
            <a:r>
              <a:rPr lang="en-IN" dirty="0"/>
              <a:t> — Testing often focuses on whether an attack </a:t>
            </a:r>
            <a:r>
              <a:rPr lang="en-IN" b="1" dirty="0"/>
              <a:t>succeeded or failed</a:t>
            </a:r>
            <a:r>
              <a:rPr lang="en-IN" dirty="0"/>
              <a:t>, without providing </a:t>
            </a:r>
            <a:r>
              <a:rPr lang="en-IN" b="1" dirty="0"/>
              <a:t>severity levels, attack explanations, or suggested </a:t>
            </a:r>
            <a:r>
              <a:rPr lang="en-IN" b="1" dirty="0" err="1"/>
              <a:t>defenses</a:t>
            </a:r>
            <a:r>
              <a:rPr lang="en-IN" dirty="0"/>
              <a:t>.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Narrow attack coverage</a:t>
            </a:r>
            <a:r>
              <a:rPr lang="en-IN" dirty="0"/>
              <a:t> — Existing tools typically test only a handful of simple, well-known PI patterns and miss the broader taxonomy such as multi-turn, contextual attacks, Obfuscation, Task-deflection, Persuasion etc.,</a:t>
            </a:r>
          </a:p>
          <a:p>
            <a:pPr lvl="0">
              <a:lnSpc>
                <a:spcPct val="110000"/>
              </a:lnSpc>
            </a:pPr>
            <a:endParaRPr lang="en-IN" b="1" dirty="0"/>
          </a:p>
          <a:p>
            <a:pPr lvl="0">
              <a:lnSpc>
                <a:spcPct val="110000"/>
              </a:lnSpc>
            </a:pPr>
            <a:r>
              <a:rPr lang="en-IN" b="1" dirty="0"/>
              <a:t>Our tool addresses this directly:</a:t>
            </a:r>
            <a:r>
              <a:rPr lang="en-IN" dirty="0"/>
              <a:t> a context-aware, multi-agent pipeline that adapts its attacks according to the target, uses multiple different PI patterns, grades severity instead of pass/fail, and generates a report with concrete </a:t>
            </a:r>
            <a:r>
              <a:rPr lang="en-IN" dirty="0" err="1"/>
              <a:t>defense</a:t>
            </a:r>
            <a:r>
              <a:rPr lang="en-IN" dirty="0"/>
              <a:t> recommendations.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08067-974A-ADE2-B65E-FFB3D16D9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9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545" y="308360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Literature Survey</a:t>
            </a:r>
            <a:endParaRPr lang="en-US" sz="2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A6F59-BFAD-2170-E63C-85C71ED00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4C7BE80-9455-16F0-9769-2B89FF0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965632"/>
              </p:ext>
            </p:extLst>
          </p:nvPr>
        </p:nvGraphicFramePr>
        <p:xfrm>
          <a:off x="196215" y="975359"/>
          <a:ext cx="8751570" cy="3983992"/>
        </p:xfrm>
        <a:graphic>
          <a:graphicData uri="http://schemas.openxmlformats.org/drawingml/2006/table">
            <a:tbl>
              <a:tblPr/>
              <a:tblGrid>
                <a:gridCol w="2276831">
                  <a:extLst>
                    <a:ext uri="{9D8B030D-6E8A-4147-A177-3AD203B41FA5}">
                      <a16:colId xmlns:a16="http://schemas.microsoft.com/office/drawing/2014/main" val="4230033021"/>
                    </a:ext>
                  </a:extLst>
                </a:gridCol>
                <a:gridCol w="1138416">
                  <a:extLst>
                    <a:ext uri="{9D8B030D-6E8A-4147-A177-3AD203B41FA5}">
                      <a16:colId xmlns:a16="http://schemas.microsoft.com/office/drawing/2014/main" val="4057456882"/>
                    </a:ext>
                  </a:extLst>
                </a:gridCol>
                <a:gridCol w="2846039">
                  <a:extLst>
                    <a:ext uri="{9D8B030D-6E8A-4147-A177-3AD203B41FA5}">
                      <a16:colId xmlns:a16="http://schemas.microsoft.com/office/drawing/2014/main" val="1167054104"/>
                    </a:ext>
                  </a:extLst>
                </a:gridCol>
                <a:gridCol w="2490284">
                  <a:extLst>
                    <a:ext uri="{9D8B030D-6E8A-4147-A177-3AD203B41FA5}">
                      <a16:colId xmlns:a16="http://schemas.microsoft.com/office/drawing/2014/main" val="1239666961"/>
                    </a:ext>
                  </a:extLst>
                </a:gridCol>
              </a:tblGrid>
              <a:tr h="78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Title of Article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Journal/Conference — Year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Highlights – Approach to be followed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Challenges to be Addressed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720728"/>
                  </a:ext>
                </a:extLst>
              </a:tr>
              <a:tr h="78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RedAgent: Red Teaming Large Language Models with Context-aware Autonomous Language Agent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arXiv (preprint) — 2024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000" dirty="0"/>
                        <a:t>The multi agent pipeline design (Planner / Profiler → Attacker → Judge/Evaluator).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IN" sz="1000" dirty="0"/>
                        <a:t>We are adding a Report agent and the ability to work with Web UI Chatbots, not just APIs.</a:t>
                      </a:r>
                    </a:p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Text-only, no multimodal support; struggles with complex/multi-step app interactions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346526"/>
                  </a:ext>
                </a:extLst>
              </a:tr>
              <a:tr h="78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 Systematic Review of Prompt Injection Attacks on Large Language Models: Trends, Taxonomy, Evaluation, Defenses, and Opportunities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IEEE — 2025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000" dirty="0"/>
                        <a:t>The attack taxonomy (direct vs. indirect, attack categories) to structure our attack library and different metrics for evaluation.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ASR alone doesn't capture severity/stealth; datasets fragmented and English-only.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300364"/>
                  </a:ext>
                </a:extLst>
              </a:tr>
              <a:tr h="78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Ignore This Title and HackAPrompt: Exposing Systemic Vulnerabilities of LLMs through a Global-Scale Prompt Hacking Competition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EMNLP — 2023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000" dirty="0"/>
                        <a:t>Their 29-technique attack taxonomy as the basis for our template library, and their dataset to seed initial attack prompts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000" dirty="0"/>
                        <a:t>Results tied to 2023 model versions – More Attacks have surfaced since then.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30659"/>
                  </a:ext>
                </a:extLst>
              </a:tr>
              <a:tr h="78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PromptFuzz: Harnessing Fuzzing Techniques for Robust Testing of Prompt Injection in LLMs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2024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The mutation strategy (generate/expand/shorten/rephrase/crossover) for adapting attacks when a first attempt fails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000" dirty="0"/>
                        <a:t>Tested mainly on GPT-3.5; mutation model coupled to GPT-3.5's biases;</a:t>
                      </a:r>
                      <a:endParaRPr lang="en-US" sz="95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158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95187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Challenges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308295"/>
            <a:ext cx="8064252" cy="372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lvl="0" indent="-171450"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en-IN" b="1" dirty="0"/>
              <a:t>Chatbot-agnostic DOM detection:</a:t>
            </a:r>
            <a:r>
              <a:rPr lang="en-IN" dirty="0"/>
              <a:t> Reliably locating chat input/output elements across unstructured UIs without prior configuration.</a:t>
            </a:r>
          </a:p>
          <a:p>
            <a:pPr marL="171450" lvl="0" indent="-171450"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en-IN" b="1" dirty="0"/>
              <a:t>Attack diversity:</a:t>
            </a:r>
            <a:r>
              <a:rPr lang="en-IN" dirty="0"/>
              <a:t> Covering the full compositional taxonomy (29+ techniques) without an existing template library.</a:t>
            </a:r>
          </a:p>
          <a:p>
            <a:pPr marL="171450" lvl="0" indent="-171450"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en-IN" b="1" dirty="0"/>
              <a:t>Judge reliability:</a:t>
            </a:r>
            <a:r>
              <a:rPr lang="en-IN" dirty="0"/>
              <a:t> LLM-as-a-judge scoring must stay consistent and calibrated — avoiding both false positives and missed violations.</a:t>
            </a:r>
          </a:p>
          <a:p>
            <a:pPr marL="171450" lvl="0" indent="-171450"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en-IN" b="1" dirty="0"/>
              <a:t>Anti-automation friction:</a:t>
            </a:r>
            <a:r>
              <a:rPr lang="en-IN" dirty="0"/>
              <a:t> Rate limits, CAPTCHAs, and dynamic rendering on real chatbot UIs can interfere with RPA-based interaction.</a:t>
            </a:r>
          </a:p>
          <a:p>
            <a:pPr marL="171450" lvl="0" indent="-171450"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en-IN" b="1" dirty="0"/>
              <a:t>Correct template extraction</a:t>
            </a:r>
            <a:r>
              <a:rPr lang="en-IN" dirty="0"/>
              <a:t> — Selecting the right attack template(s) for a given target chatbot based on its inferred context (domain, scope, prior responses) - a poor match wastes queries on irrelevant attacks.</a:t>
            </a:r>
          </a:p>
          <a:p>
            <a:pPr marL="171450" lvl="0" indent="-171450">
              <a:spcAft>
                <a:spcPts val="113"/>
              </a:spcAft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1D110-912D-6DB2-A573-10F854600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300627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797132"/>
            <a:ext cx="8064252" cy="4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r>
              <a:rPr lang="en-IN" b="1" dirty="0"/>
              <a:t>Create a </a:t>
            </a:r>
            <a:r>
              <a:rPr lang="en-IN" dirty="0"/>
              <a:t>multi-agent (Profiler, Attacker, Evaluator and Report agent)  pipeline that performs the following:</a:t>
            </a:r>
            <a:endParaRPr lang="en-IN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700" b="1" dirty="0"/>
              <a:t>Chatbot-agnostic pipeline</a:t>
            </a:r>
            <a:r>
              <a:rPr lang="en-IN" sz="1700" dirty="0"/>
              <a:t> — Test almost any chatbot through its API or Browser UI.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700" b="1" dirty="0"/>
              <a:t>Hybrid element detection</a:t>
            </a:r>
            <a:r>
              <a:rPr lang="en-IN" sz="1700" dirty="0"/>
              <a:t> — Auto-detect chat input/output, with manual override as backup.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700" b="1" dirty="0"/>
              <a:t>Context-aware attacks</a:t>
            </a:r>
            <a:r>
              <a:rPr lang="en-IN" sz="1700" dirty="0"/>
              <a:t> — Profile the target first, then tailor attacks instead of firing generic ones.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700" b="1" dirty="0"/>
              <a:t>Severity-scale evaluation</a:t>
            </a:r>
            <a:r>
              <a:rPr lang="en-IN" sz="1700" dirty="0"/>
              <a:t> — Score findings 1–5 instead of just pass/fail.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700" b="1" dirty="0"/>
              <a:t>Auditable reporting</a:t>
            </a:r>
            <a:r>
              <a:rPr lang="en-IN" sz="1700" dirty="0"/>
              <a:t> — Live dashboard with multiple vulnerability indication metrics and remediation suggestions.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700" dirty="0"/>
              <a:t>The Tool should make use of the following Attacking techniques:</a:t>
            </a:r>
            <a:r>
              <a:rPr lang="en-IN" dirty="0"/>
              <a:t>	</a:t>
            </a:r>
          </a:p>
          <a:p>
            <a:pPr lvl="0"/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62F2B-595A-20F5-AB39-428B61976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FD75CA-A4B6-775C-E7D1-8C3BD035F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520556"/>
              </p:ext>
            </p:extLst>
          </p:nvPr>
        </p:nvGraphicFramePr>
        <p:xfrm>
          <a:off x="773724" y="3864415"/>
          <a:ext cx="7326231" cy="10515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442077">
                  <a:extLst>
                    <a:ext uri="{9D8B030D-6E8A-4147-A177-3AD203B41FA5}">
                      <a16:colId xmlns:a16="http://schemas.microsoft.com/office/drawing/2014/main" val="1768504109"/>
                    </a:ext>
                  </a:extLst>
                </a:gridCol>
                <a:gridCol w="2442077">
                  <a:extLst>
                    <a:ext uri="{9D8B030D-6E8A-4147-A177-3AD203B41FA5}">
                      <a16:colId xmlns:a16="http://schemas.microsoft.com/office/drawing/2014/main" val="3512532503"/>
                    </a:ext>
                  </a:extLst>
                </a:gridCol>
                <a:gridCol w="2442077">
                  <a:extLst>
                    <a:ext uri="{9D8B030D-6E8A-4147-A177-3AD203B41FA5}">
                      <a16:colId xmlns:a16="http://schemas.microsoft.com/office/drawing/2014/main" val="1991552303"/>
                    </a:ext>
                  </a:extLst>
                </a:gridCol>
              </a:tblGrid>
              <a:tr h="292637">
                <a:tc>
                  <a:txBody>
                    <a:bodyPr/>
                    <a:lstStyle/>
                    <a:p>
                      <a:r>
                        <a:rPr lang="en-IN" sz="1700" dirty="0"/>
                        <a:t>Instruction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Task-deflection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Repetition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957239"/>
                  </a:ext>
                </a:extLst>
              </a:tr>
              <a:tr h="292637">
                <a:tc>
                  <a:txBody>
                    <a:bodyPr/>
                    <a:lstStyle/>
                    <a:p>
                      <a:r>
                        <a:rPr lang="en-IN" sz="1700" dirty="0"/>
                        <a:t>Context Switching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Variable/Code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Formatting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81358"/>
                  </a:ext>
                </a:extLst>
              </a:tr>
              <a:tr h="292637">
                <a:tc>
                  <a:txBody>
                    <a:bodyPr/>
                    <a:lstStyle/>
                    <a:p>
                      <a:r>
                        <a:rPr lang="en-IN" sz="1700" dirty="0"/>
                        <a:t>Obfuscation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Cognitive / Role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Indirect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2434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7406"/>
            <a:ext cx="8064252" cy="287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High-Level Architecture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39874" y="4380012"/>
            <a:ext cx="8064252" cy="32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550"/>
              </a:spcAft>
              <a:buNone/>
            </a:pPr>
            <a:endParaRPr lang="en-US" sz="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C97937-4574-8D88-D996-6853CF8A2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847663-30EA-430E-B5E3-74050121F8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274"/>
          <a:stretch>
            <a:fillRect/>
          </a:stretch>
        </p:blipFill>
        <p:spPr>
          <a:xfrm>
            <a:off x="618654" y="725016"/>
            <a:ext cx="7911883" cy="42550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88998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Tools &amp; Technologies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088560"/>
            <a:ext cx="8064252" cy="296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Python 3.11+</a:t>
            </a:r>
            <a:r>
              <a:rPr lang="en-IN" dirty="0"/>
              <a:t> — core implementation language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Playwright (Python)</a:t>
            </a:r>
            <a:r>
              <a:rPr lang="en-IN" dirty="0"/>
              <a:t> — browser automation / DOM interaction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LangGraph</a:t>
            </a:r>
            <a:r>
              <a:rPr lang="en-IN" dirty="0"/>
              <a:t> — stateful multi-agent orchestration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FastAPI</a:t>
            </a:r>
            <a:r>
              <a:rPr lang="en-IN" dirty="0"/>
              <a:t> — Backend APIs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React / Next.js</a:t>
            </a:r>
            <a:r>
              <a:rPr lang="en-IN" dirty="0"/>
              <a:t> — presentation dashboard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MongoDB Atlas</a:t>
            </a:r>
            <a:r>
              <a:rPr lang="en-IN" dirty="0"/>
              <a:t> — document store for templates, sessions, reports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ChromaDB</a:t>
            </a:r>
            <a:r>
              <a:rPr lang="en-IN" dirty="0"/>
              <a:t> — vector store for semantic Skill Memory retrieval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Groq</a:t>
            </a:r>
            <a:r>
              <a:rPr lang="en-IN" b="1" dirty="0"/>
              <a:t> API / </a:t>
            </a:r>
            <a:r>
              <a:rPr lang="en-IN" b="1" dirty="0" err="1"/>
              <a:t>Ollama</a:t>
            </a:r>
            <a:r>
              <a:rPr lang="en-IN" b="1" dirty="0"/>
              <a:t> (Local)</a:t>
            </a:r>
            <a:r>
              <a:rPr lang="en-IN" dirty="0"/>
              <a:t> – LLM Providers (</a:t>
            </a:r>
            <a:r>
              <a:rPr lang="en-IN" dirty="0" err="1"/>
              <a:t>Deepseek</a:t>
            </a:r>
            <a:r>
              <a:rPr lang="en-IN" dirty="0"/>
              <a:t>, Gemma, GPT OSS)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Git &amp; GitHub </a:t>
            </a:r>
            <a:r>
              <a:rPr lang="en-IN" dirty="0"/>
              <a:t>— version control &amp; Collaboration</a:t>
            </a:r>
          </a:p>
          <a:p>
            <a:pPr marL="0" indent="0" algn="l">
              <a:lnSpc>
                <a:spcPct val="125000"/>
              </a:lnSpc>
              <a:spcAft>
                <a:spcPts val="1350"/>
              </a:spcAft>
              <a:buNone/>
            </a:pP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5140D-F695-64F9-C6A1-9BF4CE8E6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39451-AB7C-7D25-0A37-1B3AFCB7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0F89D5-EF68-22B4-029C-7FFD4C69103B}"/>
              </a:ext>
            </a:extLst>
          </p:cNvPr>
          <p:cNvSpPr/>
          <p:nvPr/>
        </p:nvSpPr>
        <p:spPr>
          <a:xfrm>
            <a:off x="539874" y="488998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</a:t>
            </a:r>
            <a:endParaRPr lang="en-US" sz="2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B16399-CA87-9AA5-9EF0-9BEC037266DF}"/>
              </a:ext>
            </a:extLst>
          </p:cNvPr>
          <p:cNvSpPr/>
          <p:nvPr/>
        </p:nvSpPr>
        <p:spPr>
          <a:xfrm>
            <a:off x="539874" y="1088560"/>
            <a:ext cx="8064252" cy="367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spcAft>
                <a:spcPts val="130"/>
              </a:spcAft>
              <a:buFont typeface="+mj-lt"/>
              <a:buAutoNum type="arabicPeriod"/>
            </a:pPr>
            <a:r>
              <a:rPr lang="en-IN" b="1" dirty="0" err="1"/>
              <a:t>JailbreakBench</a:t>
            </a:r>
            <a:r>
              <a:rPr lang="en-IN" dirty="0"/>
              <a:t> — Standard jailbreak prompts</a:t>
            </a:r>
            <a:br>
              <a:rPr lang="en-IN" dirty="0"/>
            </a:br>
            <a:r>
              <a:rPr lang="en-IN" dirty="0">
                <a:hlinkClick r:id="rId3"/>
              </a:rPr>
              <a:t>https://huggingface.co/datasets/JailbreakBench/JBB-Behaviors</a:t>
            </a:r>
            <a:r>
              <a:rPr lang="en-IN" dirty="0"/>
              <a:t> · </a:t>
            </a:r>
            <a:r>
              <a:rPr lang="en-IN" dirty="0">
                <a:hlinkClick r:id="rId4"/>
              </a:rPr>
              <a:t>https://github.com/JailbreakBench/jailbreakbench</a:t>
            </a:r>
            <a:endParaRPr lang="en-IN" dirty="0"/>
          </a:p>
          <a:p>
            <a:pPr marL="342900" lvl="0" indent="-342900">
              <a:spcAft>
                <a:spcPts val="130"/>
              </a:spcAft>
              <a:buFont typeface="+mj-lt"/>
              <a:buAutoNum type="arabicPeriod"/>
            </a:pPr>
            <a:r>
              <a:rPr lang="en-IN" b="1" dirty="0" err="1"/>
              <a:t>AdvBench</a:t>
            </a:r>
            <a:r>
              <a:rPr lang="en-IN" dirty="0"/>
              <a:t> — adversarial harmful </a:t>
            </a:r>
            <a:r>
              <a:rPr lang="en-IN" dirty="0" err="1"/>
              <a:t>behavior</a:t>
            </a:r>
            <a:r>
              <a:rPr lang="en-IN" dirty="0"/>
              <a:t> prompt set</a:t>
            </a:r>
            <a:br>
              <a:rPr lang="en-IN" dirty="0"/>
            </a:br>
            <a:r>
              <a:rPr lang="en-IN" dirty="0">
                <a:hlinkClick r:id="rId5"/>
              </a:rPr>
              <a:t>https://github.com/llm-attacks/llm-attacks</a:t>
            </a:r>
            <a:r>
              <a:rPr lang="en-IN" dirty="0"/>
              <a:t> · </a:t>
            </a:r>
            <a:r>
              <a:rPr lang="en-IN" dirty="0">
                <a:hlinkClick r:id="rId6"/>
              </a:rPr>
              <a:t>https://huggingface.co/datasets/walledai/AdvBench</a:t>
            </a:r>
            <a:endParaRPr lang="en-IN" dirty="0"/>
          </a:p>
          <a:p>
            <a:pPr marL="342900" lvl="0" indent="-342900">
              <a:spcAft>
                <a:spcPts val="130"/>
              </a:spcAft>
              <a:buFont typeface="+mj-lt"/>
              <a:buAutoNum type="arabicPeriod"/>
            </a:pPr>
            <a:r>
              <a:rPr lang="en-IN" b="1" dirty="0"/>
              <a:t>Awesome-Prompt-Injection</a:t>
            </a:r>
            <a:r>
              <a:rPr lang="en-IN" dirty="0"/>
              <a:t> — curated community collection of injection techniques, tools, and resources</a:t>
            </a:r>
            <a:br>
              <a:rPr lang="en-IN" dirty="0"/>
            </a:br>
            <a:r>
              <a:rPr lang="en-IN" dirty="0">
                <a:hlinkClick r:id="rId7"/>
              </a:rPr>
              <a:t>https://github.com/FonduAI/awesome-prompt-injection</a:t>
            </a:r>
            <a:endParaRPr lang="en-IN" dirty="0"/>
          </a:p>
          <a:p>
            <a:pPr marL="342900" lvl="0" indent="-342900">
              <a:spcAft>
                <a:spcPts val="130"/>
              </a:spcAft>
              <a:buFont typeface="+mj-lt"/>
              <a:buAutoNum type="arabicPeriod"/>
            </a:pPr>
            <a:r>
              <a:rPr lang="en-IN" b="1" dirty="0" err="1"/>
              <a:t>HackAPrompt</a:t>
            </a:r>
            <a:r>
              <a:rPr lang="en-IN" b="1" dirty="0"/>
              <a:t> </a:t>
            </a:r>
            <a:r>
              <a:rPr lang="en-IN" dirty="0"/>
              <a:t>— 600K+ human-generated prompts across different PI patterns</a:t>
            </a:r>
            <a:br>
              <a:rPr lang="en-IN" dirty="0"/>
            </a:br>
            <a:r>
              <a:rPr lang="en-IN" dirty="0">
                <a:hlinkClick r:id="rId8"/>
              </a:rPr>
              <a:t>https://huggingface.co/datasets/hackaprompt/hackaprompt-dataset</a:t>
            </a:r>
            <a:r>
              <a:rPr lang="en-IN" dirty="0"/>
              <a:t> · </a:t>
            </a:r>
            <a:r>
              <a:rPr lang="en-IN" dirty="0">
                <a:hlinkClick r:id="rId9"/>
              </a:rPr>
              <a:t>https://huggingface.co/spaces/hackaprompt/playground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29A11-AD2A-0B7A-3F91-5C67BCEE19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4801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Evaluation Metrics / Report Format</a:t>
            </a:r>
            <a:endParaRPr lang="en-US" sz="2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50E946-AACC-6006-4FD5-31373CFED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EBD3EEF-0437-4B66-DD8B-C72E15E06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8069"/>
              </p:ext>
            </p:extLst>
          </p:nvPr>
        </p:nvGraphicFramePr>
        <p:xfrm>
          <a:off x="539874" y="985641"/>
          <a:ext cx="7807938" cy="3884249"/>
        </p:xfrm>
        <a:graphic>
          <a:graphicData uri="http://schemas.openxmlformats.org/drawingml/2006/table">
            <a:tbl>
              <a:tblPr/>
              <a:tblGrid>
                <a:gridCol w="2602646">
                  <a:extLst>
                    <a:ext uri="{9D8B030D-6E8A-4147-A177-3AD203B41FA5}">
                      <a16:colId xmlns:a16="http://schemas.microsoft.com/office/drawing/2014/main" val="3249269265"/>
                    </a:ext>
                  </a:extLst>
                </a:gridCol>
                <a:gridCol w="2602646">
                  <a:extLst>
                    <a:ext uri="{9D8B030D-6E8A-4147-A177-3AD203B41FA5}">
                      <a16:colId xmlns:a16="http://schemas.microsoft.com/office/drawing/2014/main" val="2089038640"/>
                    </a:ext>
                  </a:extLst>
                </a:gridCol>
                <a:gridCol w="2602646">
                  <a:extLst>
                    <a:ext uri="{9D8B030D-6E8A-4147-A177-3AD203B41FA5}">
                      <a16:colId xmlns:a16="http://schemas.microsoft.com/office/drawing/2014/main" val="2387735030"/>
                    </a:ext>
                  </a:extLst>
                </a:gridCol>
              </a:tblGrid>
              <a:tr h="197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Metric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Definition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Why It Matters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138964"/>
                  </a:ext>
                </a:extLst>
              </a:tr>
              <a:tr h="64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Attack Success Rate (ASR)</a:t>
                      </a:r>
                      <a:endParaRPr lang="en-IN" sz="1400"/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Total successful attacks /  total attacks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Core measure of how exploitable the chatbot is overall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973008"/>
                  </a:ext>
                </a:extLst>
              </a:tr>
              <a:tr h="494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Severity Score (1–5)</a:t>
                      </a:r>
                      <a:endParaRPr lang="en-IN" sz="1400" dirty="0"/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Judge-assigned severity score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Understand overall vulnerability of the system prompt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550027"/>
                  </a:ext>
                </a:extLst>
              </a:tr>
              <a:tr h="790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Category-wise Vulnerability</a:t>
                      </a:r>
                      <a:endParaRPr lang="en-IN" sz="1400" dirty="0"/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ASR broken down across attack categories (instruction-based, context-switching, obfuscation, etc.)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Shows </a:t>
                      </a:r>
                      <a:r>
                        <a:rPr lang="en-IN" sz="1400" i="1" dirty="0"/>
                        <a:t>which kinds</a:t>
                      </a:r>
                      <a:r>
                        <a:rPr lang="en-IN" sz="1400" dirty="0"/>
                        <a:t> of attacks the chatbot is weak against, not just an aggregate number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568597"/>
                  </a:ext>
                </a:extLst>
              </a:tr>
              <a:tr h="790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Attacks Used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List of PI Attacks that were used by the tool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Transparency into the working of the tool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163735"/>
                  </a:ext>
                </a:extLst>
              </a:tr>
              <a:tr h="790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Time to Report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Total run duration from first probe to final report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Understand how usable the tool will be in an actual CI/CD pipeline</a:t>
                      </a:r>
                    </a:p>
                  </a:txBody>
                  <a:tcPr marL="49429" marR="49429" marT="24714" marB="24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8718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295928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942535"/>
            <a:ext cx="8064252" cy="3812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IN" sz="1200" dirty="0"/>
              <a:t>H. Xu, W. Zhang, Z. Wang, F. Xiao, R. Zheng, Z. Ba, and K. Ren, "</a:t>
            </a:r>
            <a:r>
              <a:rPr lang="en-IN" sz="1200" dirty="0" err="1"/>
              <a:t>RedAgent</a:t>
            </a:r>
            <a:r>
              <a:rPr lang="en-IN" sz="1200" dirty="0"/>
              <a:t>: Red Teaming Large Language Models with Context-Aware Autonomous Language Agent," </a:t>
            </a:r>
            <a:r>
              <a:rPr lang="en-IN" sz="1200" i="1" dirty="0" err="1"/>
              <a:t>arXiv</a:t>
            </a:r>
            <a:r>
              <a:rPr lang="en-IN" sz="1200" i="1" dirty="0"/>
              <a:t> preprint</a:t>
            </a:r>
            <a:r>
              <a:rPr lang="en-IN" sz="1200" dirty="0"/>
              <a:t> arXiv:2407.16667, 2024.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/>
              <a:t>J. D. Duarte, G. D. Cândido, J. R. A. De Britto Filho, et al., "A Systematic Review of Prompt Injection Attacks on Large Language Models: Trends, Taxonomy, Evaluation, </a:t>
            </a:r>
            <a:r>
              <a:rPr lang="en-IN" sz="1200" dirty="0" err="1"/>
              <a:t>Defenses</a:t>
            </a:r>
            <a:r>
              <a:rPr lang="en-IN" sz="1200" dirty="0"/>
              <a:t>, and Opportunities," </a:t>
            </a:r>
            <a:r>
              <a:rPr lang="en-IN" sz="1200" i="1" dirty="0"/>
              <a:t>IEEE Access</a:t>
            </a:r>
            <a:r>
              <a:rPr lang="en-IN" sz="1200" dirty="0"/>
              <a:t>, 2025. [Online]. Available: </a:t>
            </a:r>
            <a:r>
              <a:rPr lang="en-IN" sz="1200" dirty="0">
                <a:hlinkClick r:id="rId3"/>
              </a:rPr>
              <a:t>https://ieeexplore.ieee.org/document/11359704</a:t>
            </a:r>
            <a:endParaRPr lang="en-IN" sz="1200" dirty="0"/>
          </a:p>
          <a:p>
            <a:pPr marL="228600" lvl="0" indent="-228600">
              <a:buFont typeface="+mj-lt"/>
              <a:buAutoNum type="arabicPeriod"/>
            </a:pPr>
            <a:r>
              <a:rPr lang="en-IN" sz="1200" dirty="0"/>
              <a:t>S. Schulhoff, J. Pinto, A. Khan, L.-F. Bouchard, C. Si, S. Anati, V. Tagliabue, A. L. Kost, C. Carnahan, and J. Boyd-Graber, "Ignore This Title and </a:t>
            </a:r>
            <a:r>
              <a:rPr lang="en-IN" sz="1200" dirty="0" err="1"/>
              <a:t>HackAPrompt</a:t>
            </a:r>
            <a:r>
              <a:rPr lang="en-IN" sz="1200" dirty="0"/>
              <a:t>: Exposing Systemic Vulnerabilities of LLMs Through a Global-Scale Prompt Hacking Competition," in </a:t>
            </a:r>
            <a:r>
              <a:rPr lang="en-IN" sz="1200" i="1" dirty="0"/>
              <a:t>Proc. 2023 Conf. Empirical Methods in Natural Language Processing (EMNLP)</a:t>
            </a:r>
            <a:r>
              <a:rPr lang="en-IN" sz="1200" dirty="0"/>
              <a:t>, 2023.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/>
              <a:t>Y. Shao, J. Yu, H. Miao, G. Gou, Z. Li, and J. Shi, "</a:t>
            </a:r>
            <a:r>
              <a:rPr lang="en-IN" sz="1200" dirty="0" err="1"/>
              <a:t>PromptFuzz</a:t>
            </a:r>
            <a:r>
              <a:rPr lang="en-IN" sz="1200" dirty="0"/>
              <a:t>: Harnessing Fuzzing Techniques for Robust Testing of Prompt Injection in LLMs," </a:t>
            </a:r>
            <a:r>
              <a:rPr lang="en-IN" sz="1200" i="1" dirty="0" err="1"/>
              <a:t>arXiv</a:t>
            </a:r>
            <a:r>
              <a:rPr lang="en-IN" sz="1200" i="1" dirty="0"/>
              <a:t> preprint</a:t>
            </a:r>
            <a:r>
              <a:rPr lang="en-IN" sz="1200" dirty="0"/>
              <a:t> arXiv:2409.14729, 2024.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/>
              <a:t>Y. Liu, G. Deng, Y. Li, K. Wang, T. Zhang, Y. Liu, H. Wang, Y. Zheng, and Y. Liu, "Prompt Injection Attack Against LLM-Integrated Applications," </a:t>
            </a:r>
            <a:r>
              <a:rPr lang="en-IN" sz="1200" i="1" dirty="0" err="1"/>
              <a:t>arXiv</a:t>
            </a:r>
            <a:r>
              <a:rPr lang="en-IN" sz="1200" i="1" dirty="0"/>
              <a:t> preprint</a:t>
            </a:r>
            <a:r>
              <a:rPr lang="en-IN" sz="1200" dirty="0"/>
              <a:t> arXiv:2306.05499, 2023.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/>
              <a:t>OWASP Foundation, "OWASP Top 10 for Large Language Model Applications," LLM01:2025 Prompt Injection, 2025.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/>
              <a:t>Q. Zhan, Z. Liang, Z. Ying, and D. Kang, "</a:t>
            </a:r>
            <a:r>
              <a:rPr lang="en-IN" sz="1200" dirty="0" err="1"/>
              <a:t>InjecAgent</a:t>
            </a:r>
            <a:r>
              <a:rPr lang="en-IN" sz="1200" dirty="0"/>
              <a:t>: Benchmarking Indirect Prompt Injections in Tool-Integrated Large Language Model Agents," in </a:t>
            </a:r>
            <a:r>
              <a:rPr lang="en-IN" sz="1200" i="1" dirty="0"/>
              <a:t>Findings of the Association for Computational Linguistics: ACL 2024</a:t>
            </a:r>
            <a:r>
              <a:rPr lang="en-IN" sz="1200" dirty="0"/>
              <a:t>, Bangkok, Thailand, Aug. 2024, pp. 10471–10506.</a:t>
            </a:r>
          </a:p>
          <a:p>
            <a:pPr lvl="0"/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359F7-00E7-9E27-AB6B-6D512398E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074" y="4404296"/>
            <a:ext cx="1226926" cy="7392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D2E3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1603</Words>
  <Application>Microsoft Office PowerPoint</Application>
  <PresentationFormat>On-screen Show (16:9)</PresentationFormat>
  <Paragraphs>124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Source Sans 3 Bold</vt:lpstr>
      <vt:lpstr>Source Sans 3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Naveen Thanikachalam</cp:lastModifiedBy>
  <cp:revision>4</cp:revision>
  <dcterms:created xsi:type="dcterms:W3CDTF">2026-07-28T05:07:03Z</dcterms:created>
  <dcterms:modified xsi:type="dcterms:W3CDTF">2026-08-08T16:55:00Z</dcterms:modified>
</cp:coreProperties>
</file>